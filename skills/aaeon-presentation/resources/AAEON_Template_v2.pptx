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octet-stream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  <p:sldMasterId id="2147483661" r:id="rId4"/>
  </p:sldMasterIdLst>
  <p:notesMasterIdLst>
    <p:notesMasterId r:id="rId5"/>
  </p:notesMasterIdLst>
  <p:sldIdLst>
    <p:sldId id="256" r:id="rId7"/>
    <p:sldId id="257" r:id="rId6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q6RENLLbGcX2wQTS/qIWoeAOq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customschemas.google.com/relationships/presentationmetadata" Target="metadata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">
  <p:cSld name="Chapt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638956" y="1726385"/>
            <a:ext cx="59376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638955" y="3561956"/>
            <a:ext cx="5937689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6580" y="6511939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1 Line Title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515937" y="372729"/>
            <a:ext cx="9924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15937" y="1074738"/>
            <a:ext cx="11160124" cy="50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A">
  <p:cSld name="Cover_A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212636" cy="6869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ctrTitle"/>
          </p:nvPr>
        </p:nvSpPr>
        <p:spPr>
          <a:xfrm>
            <a:off x="638956" y="2429607"/>
            <a:ext cx="594941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subTitle"/>
          </p:nvPr>
        </p:nvSpPr>
        <p:spPr>
          <a:xfrm>
            <a:off x="638958" y="5536321"/>
            <a:ext cx="4331628" cy="430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0" name="Google Shape;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134" y="607292"/>
            <a:ext cx="5324468" cy="44680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38957" y="5905651"/>
            <a:ext cx="4115533" cy="46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3"/>
                </a:solidFill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2pPr>
            <a:lvl3pPr indent="-3810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3pPr>
            <a:lvl4pPr indent="-3810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4pPr>
            <a:lvl5pPr indent="-3810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B">
  <p:cSld name="Cover_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ctrTitle"/>
          </p:nvPr>
        </p:nvSpPr>
        <p:spPr>
          <a:xfrm>
            <a:off x="638956" y="2429607"/>
            <a:ext cx="59376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7139355" y="5905652"/>
            <a:ext cx="44136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5" name="Google Shape;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134" y="607292"/>
            <a:ext cx="5324468" cy="44680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38957" y="5905651"/>
            <a:ext cx="4115533" cy="46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3"/>
                </a:solidFill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2pPr>
            <a:lvl3pPr indent="-3810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3pPr>
            <a:lvl4pPr indent="-3810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4pPr>
            <a:lvl5pPr indent="-3810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212636" cy="686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type="title"/>
          </p:nvPr>
        </p:nvSpPr>
        <p:spPr>
          <a:xfrm>
            <a:off x="515937" y="372729"/>
            <a:ext cx="9920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045937" y="1330233"/>
            <a:ext cx="5050063" cy="4882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chemeClr val="accent1"/>
                </a:solidFill>
              </a:defRPr>
            </a:lvl1pPr>
            <a:lvl2pPr indent="-3937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2pPr>
            <a:lvl3pPr indent="-3937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3pPr>
            <a:lvl4pPr indent="-3937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4pPr>
            <a:lvl5pPr indent="-3937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" name="Google Shape;43;p8"/>
          <p:cNvSpPr txBox="1"/>
          <p:nvPr>
            <p:ph idx="2" type="subTitle"/>
          </p:nvPr>
        </p:nvSpPr>
        <p:spPr>
          <a:xfrm>
            <a:off x="515937" y="1330232"/>
            <a:ext cx="530000" cy="4882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2 Lines Title">
  <p:cSld name="Page_2 Lines 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>
            <p:ph type="title"/>
          </p:nvPr>
        </p:nvSpPr>
        <p:spPr>
          <a:xfrm>
            <a:off x="515937" y="372729"/>
            <a:ext cx="99244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515937" y="1578724"/>
            <a:ext cx="11160124" cy="450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3655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1 Line Title">
  <p:cSld name="Case Study_1 Line 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>
            <p:ph idx="2" type="pic"/>
          </p:nvPr>
        </p:nvSpPr>
        <p:spPr>
          <a:xfrm>
            <a:off x="7502525" y="0"/>
            <a:ext cx="4711897" cy="6345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type="title"/>
          </p:nvPr>
        </p:nvSpPr>
        <p:spPr>
          <a:xfrm>
            <a:off x="515937" y="634119"/>
            <a:ext cx="64900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515937" y="1480284"/>
            <a:ext cx="6490080" cy="4602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2pPr>
            <a:lvl3pPr indent="-3683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3pPr>
            <a:lvl4pPr indent="-3683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4pPr>
            <a:lvl5pPr indent="-3683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" name="Google Shape;59;p10"/>
          <p:cNvSpPr txBox="1"/>
          <p:nvPr>
            <p:ph idx="3" type="subTitle"/>
          </p:nvPr>
        </p:nvSpPr>
        <p:spPr>
          <a:xfrm>
            <a:off x="515937" y="372658"/>
            <a:ext cx="6490080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2 Lines Title">
  <p:cSld name="Case Study_2 Lines 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>
            <p:ph idx="2" type="pic"/>
          </p:nvPr>
        </p:nvSpPr>
        <p:spPr>
          <a:xfrm>
            <a:off x="7502525" y="0"/>
            <a:ext cx="4711897" cy="6345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pic>
        <p:nvPicPr>
          <p:cNvPr id="62" name="Google Shape;6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>
            <p:ph type="title"/>
          </p:nvPr>
        </p:nvSpPr>
        <p:spPr>
          <a:xfrm>
            <a:off x="515937" y="686115"/>
            <a:ext cx="6490080" cy="1008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515937" y="1956546"/>
            <a:ext cx="6490080" cy="41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idx="3" type="subTitle"/>
          </p:nvPr>
        </p:nvSpPr>
        <p:spPr>
          <a:xfrm>
            <a:off x="515937" y="372658"/>
            <a:ext cx="6490080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Product+Case Photos">
  <p:cSld name="Case Study_Product+Case Photo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>
            <p:ph type="title"/>
          </p:nvPr>
        </p:nvSpPr>
        <p:spPr>
          <a:xfrm>
            <a:off x="515937" y="686115"/>
            <a:ext cx="4768444" cy="1008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15937" y="1956546"/>
            <a:ext cx="4768444" cy="41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6" name="Google Shape;76;p12"/>
          <p:cNvSpPr/>
          <p:nvPr/>
        </p:nvSpPr>
        <p:spPr>
          <a:xfrm flipH="1">
            <a:off x="5786578" y="4050966"/>
            <a:ext cx="6533322" cy="1885378"/>
          </a:xfrm>
          <a:prstGeom prst="round1Rect">
            <a:avLst>
              <a:gd fmla="val 16667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6727212" y="4293316"/>
            <a:ext cx="2145748" cy="1418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" name="Google Shape;78;p12"/>
          <p:cNvSpPr/>
          <p:nvPr>
            <p:ph idx="3" type="pic"/>
          </p:nvPr>
        </p:nvSpPr>
        <p:spPr>
          <a:xfrm>
            <a:off x="9178561" y="4293316"/>
            <a:ext cx="2145748" cy="1418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9" name="Google Shape;79;p12"/>
          <p:cNvSpPr/>
          <p:nvPr>
            <p:ph idx="4" type="pic"/>
          </p:nvPr>
        </p:nvSpPr>
        <p:spPr>
          <a:xfrm>
            <a:off x="6727211" y="769901"/>
            <a:ext cx="4597097" cy="30383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0" name="Google Shape;80;p12"/>
          <p:cNvSpPr txBox="1"/>
          <p:nvPr>
            <p:ph idx="5" type="subTitle"/>
          </p:nvPr>
        </p:nvSpPr>
        <p:spPr>
          <a:xfrm>
            <a:off x="515937" y="372658"/>
            <a:ext cx="4768444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3 Columns">
  <p:cSld name="Case Study_3 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 flipH="1">
            <a:off x="515347" y="1483222"/>
            <a:ext cx="3479624" cy="2166392"/>
          </a:xfrm>
          <a:prstGeom prst="round1Rect">
            <a:avLst>
              <a:gd fmla="val 16667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 flipH="1">
            <a:off x="4354989" y="1483222"/>
            <a:ext cx="3479624" cy="2166392"/>
          </a:xfrm>
          <a:prstGeom prst="round1Rect">
            <a:avLst>
              <a:gd fmla="val 16667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 flipH="1">
            <a:off x="8194631" y="1483222"/>
            <a:ext cx="3479624" cy="2166392"/>
          </a:xfrm>
          <a:prstGeom prst="round1Rect">
            <a:avLst>
              <a:gd fmla="val 16667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type="title"/>
          </p:nvPr>
        </p:nvSpPr>
        <p:spPr>
          <a:xfrm>
            <a:off x="515937" y="634119"/>
            <a:ext cx="9924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515937" y="372658"/>
            <a:ext cx="6490080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3"/>
          <p:cNvSpPr/>
          <p:nvPr>
            <p:ph idx="2" type="pic"/>
          </p:nvPr>
        </p:nvSpPr>
        <p:spPr>
          <a:xfrm>
            <a:off x="517745" y="3629410"/>
            <a:ext cx="3477226" cy="2255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2" name="Google Shape;92;p13"/>
          <p:cNvSpPr/>
          <p:nvPr>
            <p:ph idx="3" type="pic"/>
          </p:nvPr>
        </p:nvSpPr>
        <p:spPr>
          <a:xfrm>
            <a:off x="4357387" y="3629410"/>
            <a:ext cx="3477226" cy="2255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3" name="Google Shape;93;p13"/>
          <p:cNvSpPr/>
          <p:nvPr>
            <p:ph idx="4" type="pic"/>
          </p:nvPr>
        </p:nvSpPr>
        <p:spPr>
          <a:xfrm>
            <a:off x="8197029" y="3629410"/>
            <a:ext cx="3477226" cy="2255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4" name="Google Shape;94;p13"/>
          <p:cNvSpPr txBox="1"/>
          <p:nvPr>
            <p:ph idx="5" type="body"/>
          </p:nvPr>
        </p:nvSpPr>
        <p:spPr>
          <a:xfrm>
            <a:off x="795475" y="1705831"/>
            <a:ext cx="2923714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6" type="body"/>
          </p:nvPr>
        </p:nvSpPr>
        <p:spPr>
          <a:xfrm>
            <a:off x="795475" y="2085066"/>
            <a:ext cx="2923714" cy="1359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7" type="body"/>
          </p:nvPr>
        </p:nvSpPr>
        <p:spPr>
          <a:xfrm>
            <a:off x="4635117" y="1705831"/>
            <a:ext cx="2923714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8" type="body"/>
          </p:nvPr>
        </p:nvSpPr>
        <p:spPr>
          <a:xfrm>
            <a:off x="4635117" y="2085066"/>
            <a:ext cx="2923714" cy="1359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9" type="body"/>
          </p:nvPr>
        </p:nvSpPr>
        <p:spPr>
          <a:xfrm>
            <a:off x="8474759" y="1705831"/>
            <a:ext cx="2923714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3" type="body"/>
          </p:nvPr>
        </p:nvSpPr>
        <p:spPr>
          <a:xfrm>
            <a:off x="8474759" y="2085066"/>
            <a:ext cx="2923714" cy="1359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">
  <p:cSld name="Mileston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50" y="6345130"/>
            <a:ext cx="12237572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7" y="177225"/>
            <a:ext cx="1389304" cy="32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>
            <p:ph type="title"/>
          </p:nvPr>
        </p:nvSpPr>
        <p:spPr>
          <a:xfrm>
            <a:off x="515937" y="372729"/>
            <a:ext cx="9924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15940" y="3354467"/>
            <a:ext cx="11160124" cy="19378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5E5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4"/>
          <p:cNvCxnSpPr/>
          <p:nvPr/>
        </p:nvCxnSpPr>
        <p:spPr>
          <a:xfrm rot="10800000">
            <a:off x="1616695" y="3878821"/>
            <a:ext cx="0" cy="532186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"/>
            <a:headEnd len="med" w="med" type="oval"/>
            <a:tailEnd len="sm" w="sm" type="none"/>
          </a:ln>
        </p:spPr>
      </p:cxnSp>
      <p:grpSp>
        <p:nvGrpSpPr>
          <p:cNvPr id="108" name="Google Shape;108;p14"/>
          <p:cNvGrpSpPr/>
          <p:nvPr/>
        </p:nvGrpSpPr>
        <p:grpSpPr>
          <a:xfrm>
            <a:off x="1130123" y="2966085"/>
            <a:ext cx="970548" cy="970547"/>
            <a:chOff x="1384158" y="2442091"/>
            <a:chExt cx="1484768" cy="1484767"/>
          </a:xfrm>
        </p:grpSpPr>
        <p:sp>
          <p:nvSpPr>
            <p:cNvPr id="109" name="Google Shape;109;p14"/>
            <p:cNvSpPr/>
            <p:nvPr/>
          </p:nvSpPr>
          <p:spPr>
            <a:xfrm>
              <a:off x="1384158" y="2442091"/>
              <a:ext cx="1484768" cy="1484767"/>
            </a:xfrm>
            <a:prstGeom prst="ellipse">
              <a:avLst/>
            </a:prstGeom>
            <a:solidFill>
              <a:srgbClr val="E5E5E5"/>
            </a:solidFill>
            <a:ln cap="flat" cmpd="sng" w="285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1571423" y="2629356"/>
              <a:ext cx="1110238" cy="1110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" name="Google Shape;111;p14"/>
          <p:cNvCxnSpPr/>
          <p:nvPr/>
        </p:nvCxnSpPr>
        <p:spPr>
          <a:xfrm>
            <a:off x="3110229" y="2486237"/>
            <a:ext cx="0" cy="532186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"/>
            <a:headEnd len="med" w="med" type="oval"/>
            <a:tailEnd len="sm" w="sm" type="none"/>
          </a:ln>
        </p:spPr>
      </p:cxnSp>
      <p:grpSp>
        <p:nvGrpSpPr>
          <p:cNvPr id="112" name="Google Shape;112;p14"/>
          <p:cNvGrpSpPr/>
          <p:nvPr/>
        </p:nvGrpSpPr>
        <p:grpSpPr>
          <a:xfrm>
            <a:off x="2623657" y="2966085"/>
            <a:ext cx="970548" cy="970547"/>
            <a:chOff x="1384158" y="2442091"/>
            <a:chExt cx="1484768" cy="1484767"/>
          </a:xfrm>
        </p:grpSpPr>
        <p:sp>
          <p:nvSpPr>
            <p:cNvPr id="113" name="Google Shape;113;p14"/>
            <p:cNvSpPr/>
            <p:nvPr/>
          </p:nvSpPr>
          <p:spPr>
            <a:xfrm>
              <a:off x="1384158" y="2442091"/>
              <a:ext cx="1484768" cy="1484767"/>
            </a:xfrm>
            <a:prstGeom prst="ellipse">
              <a:avLst/>
            </a:prstGeom>
            <a:solidFill>
              <a:srgbClr val="E5E5E5"/>
            </a:solidFill>
            <a:ln cap="flat" cmpd="sng" w="285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1571423" y="2629356"/>
              <a:ext cx="1110238" cy="1110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4117191" y="2966085"/>
            <a:ext cx="970548" cy="1444922"/>
            <a:chOff x="5610077" y="2966085"/>
            <a:chExt cx="970548" cy="1444922"/>
          </a:xfrm>
        </p:grpSpPr>
        <p:cxnSp>
          <p:nvCxnSpPr>
            <p:cNvPr id="116" name="Google Shape;116;p14"/>
            <p:cNvCxnSpPr/>
            <p:nvPr/>
          </p:nvCxnSpPr>
          <p:spPr>
            <a:xfrm rot="10800000">
              <a:off x="6096649" y="3878821"/>
              <a:ext cx="0" cy="53218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"/>
              <a:headEnd len="med" w="med" type="oval"/>
              <a:tailEnd len="sm" w="sm" type="none"/>
            </a:ln>
          </p:spPr>
        </p:cxnSp>
        <p:grpSp>
          <p:nvGrpSpPr>
            <p:cNvPr id="117" name="Google Shape;117;p14"/>
            <p:cNvGrpSpPr/>
            <p:nvPr/>
          </p:nvGrpSpPr>
          <p:grpSpPr>
            <a:xfrm>
              <a:off x="5610077" y="2966085"/>
              <a:ext cx="970548" cy="970547"/>
              <a:chOff x="1384158" y="2442091"/>
              <a:chExt cx="1484768" cy="1484767"/>
            </a:xfrm>
          </p:grpSpPr>
          <p:sp>
            <p:nvSpPr>
              <p:cNvPr id="118" name="Google Shape;118;p14"/>
              <p:cNvSpPr/>
              <p:nvPr/>
            </p:nvSpPr>
            <p:spPr>
              <a:xfrm>
                <a:off x="1384158" y="2442091"/>
                <a:ext cx="1484768" cy="1484767"/>
              </a:xfrm>
              <a:prstGeom prst="ellipse">
                <a:avLst/>
              </a:prstGeom>
              <a:solidFill>
                <a:srgbClr val="E5E5E5"/>
              </a:solidFill>
              <a:ln cap="flat" cmpd="sng" w="2857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>
                <a:off x="1571423" y="2629356"/>
                <a:ext cx="1110238" cy="1110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0" name="Google Shape;120;p14"/>
          <p:cNvGrpSpPr/>
          <p:nvPr/>
        </p:nvGrpSpPr>
        <p:grpSpPr>
          <a:xfrm>
            <a:off x="5610725" y="2486237"/>
            <a:ext cx="970548" cy="1450395"/>
            <a:chOff x="7850054" y="2486237"/>
            <a:chExt cx="970548" cy="1450395"/>
          </a:xfrm>
        </p:grpSpPr>
        <p:cxnSp>
          <p:nvCxnSpPr>
            <p:cNvPr id="121" name="Google Shape;121;p14"/>
            <p:cNvCxnSpPr/>
            <p:nvPr/>
          </p:nvCxnSpPr>
          <p:spPr>
            <a:xfrm>
              <a:off x="8336626" y="2486237"/>
              <a:ext cx="0" cy="53218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"/>
              <a:headEnd len="med" w="med" type="oval"/>
              <a:tailEnd len="sm" w="sm" type="none"/>
            </a:ln>
          </p:spPr>
        </p:cxnSp>
        <p:grpSp>
          <p:nvGrpSpPr>
            <p:cNvPr id="122" name="Google Shape;122;p14"/>
            <p:cNvGrpSpPr/>
            <p:nvPr/>
          </p:nvGrpSpPr>
          <p:grpSpPr>
            <a:xfrm>
              <a:off x="7850054" y="2966085"/>
              <a:ext cx="970548" cy="970547"/>
              <a:chOff x="1384158" y="2442091"/>
              <a:chExt cx="1484768" cy="1484767"/>
            </a:xfrm>
          </p:grpSpPr>
          <p:sp>
            <p:nvSpPr>
              <p:cNvPr id="123" name="Google Shape;123;p14"/>
              <p:cNvSpPr/>
              <p:nvPr/>
            </p:nvSpPr>
            <p:spPr>
              <a:xfrm>
                <a:off x="1384158" y="2442091"/>
                <a:ext cx="1484768" cy="1484767"/>
              </a:xfrm>
              <a:prstGeom prst="ellipse">
                <a:avLst/>
              </a:prstGeom>
              <a:solidFill>
                <a:srgbClr val="E5E5E5"/>
              </a:solidFill>
              <a:ln cap="flat" cmpd="sng" w="2857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1571423" y="2629356"/>
                <a:ext cx="1110238" cy="1110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" name="Google Shape;125;p14"/>
          <p:cNvGrpSpPr/>
          <p:nvPr/>
        </p:nvGrpSpPr>
        <p:grpSpPr>
          <a:xfrm>
            <a:off x="7104259" y="2966085"/>
            <a:ext cx="970548" cy="1444922"/>
            <a:chOff x="10090032" y="2966085"/>
            <a:chExt cx="970548" cy="1444922"/>
          </a:xfrm>
        </p:grpSpPr>
        <p:cxnSp>
          <p:nvCxnSpPr>
            <p:cNvPr id="126" name="Google Shape;126;p14"/>
            <p:cNvCxnSpPr/>
            <p:nvPr/>
          </p:nvCxnSpPr>
          <p:spPr>
            <a:xfrm rot="10800000">
              <a:off x="10576604" y="3878821"/>
              <a:ext cx="0" cy="53218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"/>
              <a:headEnd len="med" w="med" type="oval"/>
              <a:tailEnd len="sm" w="sm" type="none"/>
            </a:ln>
          </p:spPr>
        </p:cxnSp>
        <p:grpSp>
          <p:nvGrpSpPr>
            <p:cNvPr id="127" name="Google Shape;127;p14"/>
            <p:cNvGrpSpPr/>
            <p:nvPr/>
          </p:nvGrpSpPr>
          <p:grpSpPr>
            <a:xfrm>
              <a:off x="10090032" y="2966085"/>
              <a:ext cx="970548" cy="970547"/>
              <a:chOff x="1384158" y="2442091"/>
              <a:chExt cx="1484768" cy="1484767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1384158" y="2442091"/>
                <a:ext cx="1484768" cy="1484767"/>
              </a:xfrm>
              <a:prstGeom prst="ellipse">
                <a:avLst/>
              </a:prstGeom>
              <a:solidFill>
                <a:srgbClr val="E5E5E5"/>
              </a:solidFill>
              <a:ln cap="flat" cmpd="sng" w="2857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1571423" y="2629356"/>
                <a:ext cx="1110238" cy="1110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" name="Google Shape;130;p14"/>
          <p:cNvGrpSpPr/>
          <p:nvPr/>
        </p:nvGrpSpPr>
        <p:grpSpPr>
          <a:xfrm>
            <a:off x="8597794" y="2486237"/>
            <a:ext cx="970548" cy="1450395"/>
            <a:chOff x="7850054" y="2486237"/>
            <a:chExt cx="970548" cy="1450395"/>
          </a:xfrm>
        </p:grpSpPr>
        <p:cxnSp>
          <p:nvCxnSpPr>
            <p:cNvPr id="131" name="Google Shape;131;p14"/>
            <p:cNvCxnSpPr/>
            <p:nvPr/>
          </p:nvCxnSpPr>
          <p:spPr>
            <a:xfrm>
              <a:off x="8336626" y="2486237"/>
              <a:ext cx="0" cy="53218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"/>
              <a:headEnd len="med" w="med" type="oval"/>
              <a:tailEnd len="sm" w="sm" type="none"/>
            </a:ln>
          </p:spPr>
        </p:cxnSp>
        <p:grpSp>
          <p:nvGrpSpPr>
            <p:cNvPr id="132" name="Google Shape;132;p14"/>
            <p:cNvGrpSpPr/>
            <p:nvPr/>
          </p:nvGrpSpPr>
          <p:grpSpPr>
            <a:xfrm>
              <a:off x="7850054" y="2966085"/>
              <a:ext cx="970548" cy="970547"/>
              <a:chOff x="1384158" y="2442091"/>
              <a:chExt cx="1484768" cy="1484767"/>
            </a:xfrm>
          </p:grpSpPr>
          <p:sp>
            <p:nvSpPr>
              <p:cNvPr id="133" name="Google Shape;133;p14"/>
              <p:cNvSpPr/>
              <p:nvPr/>
            </p:nvSpPr>
            <p:spPr>
              <a:xfrm>
                <a:off x="1384158" y="2442091"/>
                <a:ext cx="1484768" cy="1484767"/>
              </a:xfrm>
              <a:prstGeom prst="ellipse">
                <a:avLst/>
              </a:prstGeom>
              <a:solidFill>
                <a:srgbClr val="E5E5E5"/>
              </a:solidFill>
              <a:ln cap="flat" cmpd="sng" w="2857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>
                <a:off x="1571423" y="2629356"/>
                <a:ext cx="1110238" cy="1110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5" name="Google Shape;135;p14"/>
          <p:cNvGrpSpPr/>
          <p:nvPr/>
        </p:nvGrpSpPr>
        <p:grpSpPr>
          <a:xfrm>
            <a:off x="10091330" y="2966085"/>
            <a:ext cx="970548" cy="1444922"/>
            <a:chOff x="10090032" y="2966085"/>
            <a:chExt cx="970548" cy="1444922"/>
          </a:xfrm>
        </p:grpSpPr>
        <p:cxnSp>
          <p:nvCxnSpPr>
            <p:cNvPr id="136" name="Google Shape;136;p14"/>
            <p:cNvCxnSpPr/>
            <p:nvPr/>
          </p:nvCxnSpPr>
          <p:spPr>
            <a:xfrm rot="10800000">
              <a:off x="10576604" y="3878821"/>
              <a:ext cx="0" cy="53218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"/>
              <a:headEnd len="med" w="med" type="oval"/>
              <a:tailEnd len="sm" w="sm" type="none"/>
            </a:ln>
          </p:spPr>
        </p:cxnSp>
        <p:grpSp>
          <p:nvGrpSpPr>
            <p:cNvPr id="137" name="Google Shape;137;p14"/>
            <p:cNvGrpSpPr/>
            <p:nvPr/>
          </p:nvGrpSpPr>
          <p:grpSpPr>
            <a:xfrm>
              <a:off x="10090032" y="2966085"/>
              <a:ext cx="970548" cy="970547"/>
              <a:chOff x="1384158" y="2442091"/>
              <a:chExt cx="1484768" cy="1484767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1384158" y="2442091"/>
                <a:ext cx="1484768" cy="1484767"/>
              </a:xfrm>
              <a:prstGeom prst="ellipse">
                <a:avLst/>
              </a:prstGeom>
              <a:solidFill>
                <a:srgbClr val="E5E5E5"/>
              </a:solidFill>
              <a:ln cap="flat" cmpd="sng" w="2857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1571423" y="2629356"/>
                <a:ext cx="1110238" cy="1110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862479" y="1122315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idx="2" type="body"/>
          </p:nvPr>
        </p:nvSpPr>
        <p:spPr>
          <a:xfrm>
            <a:off x="1862479" y="1501551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idx="3" type="body"/>
          </p:nvPr>
        </p:nvSpPr>
        <p:spPr>
          <a:xfrm>
            <a:off x="2623658" y="3261497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4"/>
          <p:cNvSpPr txBox="1"/>
          <p:nvPr>
            <p:ph idx="4" type="body"/>
          </p:nvPr>
        </p:nvSpPr>
        <p:spPr>
          <a:xfrm>
            <a:off x="4846306" y="1122315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4"/>
          <p:cNvSpPr txBox="1"/>
          <p:nvPr>
            <p:ph idx="5" type="body"/>
          </p:nvPr>
        </p:nvSpPr>
        <p:spPr>
          <a:xfrm>
            <a:off x="4846306" y="1501551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6" type="body"/>
          </p:nvPr>
        </p:nvSpPr>
        <p:spPr>
          <a:xfrm>
            <a:off x="5607485" y="3261497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7" type="body"/>
          </p:nvPr>
        </p:nvSpPr>
        <p:spPr>
          <a:xfrm>
            <a:off x="7840766" y="1125841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8" type="body"/>
          </p:nvPr>
        </p:nvSpPr>
        <p:spPr>
          <a:xfrm>
            <a:off x="7840766" y="1505077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9" type="body"/>
          </p:nvPr>
        </p:nvSpPr>
        <p:spPr>
          <a:xfrm>
            <a:off x="8601945" y="3265023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4"/>
          <p:cNvSpPr txBox="1"/>
          <p:nvPr>
            <p:ph idx="13" type="body"/>
          </p:nvPr>
        </p:nvSpPr>
        <p:spPr>
          <a:xfrm>
            <a:off x="1130123" y="3258726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4"/>
          <p:cNvSpPr txBox="1"/>
          <p:nvPr>
            <p:ph idx="14" type="body"/>
          </p:nvPr>
        </p:nvSpPr>
        <p:spPr>
          <a:xfrm>
            <a:off x="383277" y="4561040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15" type="body"/>
          </p:nvPr>
        </p:nvSpPr>
        <p:spPr>
          <a:xfrm>
            <a:off x="383277" y="4940276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4"/>
          <p:cNvSpPr txBox="1"/>
          <p:nvPr>
            <p:ph idx="16" type="body"/>
          </p:nvPr>
        </p:nvSpPr>
        <p:spPr>
          <a:xfrm>
            <a:off x="4119788" y="3262005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4"/>
          <p:cNvSpPr txBox="1"/>
          <p:nvPr>
            <p:ph idx="17" type="body"/>
          </p:nvPr>
        </p:nvSpPr>
        <p:spPr>
          <a:xfrm>
            <a:off x="3372942" y="4564319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4"/>
          <p:cNvSpPr txBox="1"/>
          <p:nvPr>
            <p:ph idx="18" type="body"/>
          </p:nvPr>
        </p:nvSpPr>
        <p:spPr>
          <a:xfrm>
            <a:off x="3372942" y="4943555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9" type="body"/>
          </p:nvPr>
        </p:nvSpPr>
        <p:spPr>
          <a:xfrm>
            <a:off x="7104260" y="3262005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4"/>
          <p:cNvSpPr txBox="1"/>
          <p:nvPr>
            <p:ph idx="20" type="body"/>
          </p:nvPr>
        </p:nvSpPr>
        <p:spPr>
          <a:xfrm>
            <a:off x="6357414" y="4564319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4"/>
          <p:cNvSpPr txBox="1"/>
          <p:nvPr>
            <p:ph idx="21" type="body"/>
          </p:nvPr>
        </p:nvSpPr>
        <p:spPr>
          <a:xfrm>
            <a:off x="6357414" y="4943555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22" type="body"/>
          </p:nvPr>
        </p:nvSpPr>
        <p:spPr>
          <a:xfrm>
            <a:off x="10091329" y="3255374"/>
            <a:ext cx="970546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4"/>
          <p:cNvSpPr txBox="1"/>
          <p:nvPr>
            <p:ph idx="23" type="body"/>
          </p:nvPr>
        </p:nvSpPr>
        <p:spPr>
          <a:xfrm>
            <a:off x="9344483" y="4557688"/>
            <a:ext cx="2466835" cy="41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4"/>
          <p:cNvSpPr txBox="1"/>
          <p:nvPr>
            <p:ph idx="24" type="body"/>
          </p:nvPr>
        </p:nvSpPr>
        <p:spPr>
          <a:xfrm>
            <a:off x="9344483" y="4936924"/>
            <a:ext cx="2466835" cy="8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638957" y="5905651"/>
            <a:ext cx="4115533" cy="46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2pPr>
            <a:lvl3pPr indent="-3810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3pPr>
            <a:lvl4pPr indent="-3810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4pPr>
            <a:lvl5pPr indent="-3810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1" sz="2400"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957" y="2594414"/>
            <a:ext cx="3602051" cy="140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">
  <p:cSld name="1_Conten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0"/>
            <a:ext cx="12212634" cy="68696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>
            <p:ph type="title"/>
          </p:nvPr>
        </p:nvSpPr>
        <p:spPr>
          <a:xfrm>
            <a:off x="515937" y="372729"/>
            <a:ext cx="9920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1045937" y="1330233"/>
            <a:ext cx="5050063" cy="4882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chemeClr val="lt2"/>
                </a:solidFill>
              </a:defRPr>
            </a:lvl1pPr>
            <a:lvl2pPr indent="-3937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2pPr>
            <a:lvl3pPr indent="-3937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3pPr>
            <a:lvl4pPr indent="-3937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4pPr>
            <a:lvl5pPr indent="-3937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b="1" sz="2600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2" type="subTitle"/>
          </p:nvPr>
        </p:nvSpPr>
        <p:spPr>
          <a:xfrm>
            <a:off x="515937" y="1330232"/>
            <a:ext cx="530000" cy="4882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chemeClr val="lt2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hapter">
  <p:cSld name="1_Chapt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ctrTitle"/>
          </p:nvPr>
        </p:nvSpPr>
        <p:spPr>
          <a:xfrm>
            <a:off x="638956" y="1726385"/>
            <a:ext cx="59376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638955" y="3561956"/>
            <a:ext cx="5937689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1" sz="2600">
                <a:solidFill>
                  <a:srgbClr val="93E1FE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18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6580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_1 Line Title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>
            <p:ph type="title"/>
          </p:nvPr>
        </p:nvSpPr>
        <p:spPr>
          <a:xfrm>
            <a:off x="515937" y="372729"/>
            <a:ext cx="9924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515937" y="1074738"/>
            <a:ext cx="11160124" cy="50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+Background Image_1 Line Title">
  <p:cSld name="1 Column+Background Image_1 Line Title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2245">
                  <a:alpha val="54902"/>
                </a:srgbClr>
              </a:gs>
              <a:gs pos="100000">
                <a:srgbClr val="012245"/>
              </a:gs>
            </a:gsLst>
            <a:lin ang="108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>
            <p:ph type="title"/>
          </p:nvPr>
        </p:nvSpPr>
        <p:spPr>
          <a:xfrm>
            <a:off x="515937" y="372729"/>
            <a:ext cx="9924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515937" y="1074738"/>
            <a:ext cx="11160124" cy="50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_2 Line Title">
  <p:cSld name="1 Column_2 Line 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515937" y="372729"/>
            <a:ext cx="99244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515937" y="1578724"/>
            <a:ext cx="11160124" cy="450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3655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+Background Image_2 Line Title">
  <p:cSld name="1 Column+Background Image_2 Line Titl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2245">
                  <a:alpha val="54902"/>
                </a:srgbClr>
              </a:gs>
              <a:gs pos="100000">
                <a:srgbClr val="012245"/>
              </a:gs>
            </a:gsLst>
            <a:lin ang="108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>
            <p:ph type="title"/>
          </p:nvPr>
        </p:nvSpPr>
        <p:spPr>
          <a:xfrm>
            <a:off x="515937" y="372729"/>
            <a:ext cx="99244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515937" y="1578724"/>
            <a:ext cx="11160124" cy="450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3655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1 Line Title">
  <p:cSld name="Case Study_1 Line Titl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2245">
                  <a:alpha val="0"/>
                </a:srgbClr>
              </a:gs>
              <a:gs pos="31000">
                <a:srgbClr val="012245">
                  <a:alpha val="0"/>
                </a:srgbClr>
              </a:gs>
              <a:gs pos="79000">
                <a:srgbClr val="012245"/>
              </a:gs>
              <a:gs pos="100000">
                <a:srgbClr val="012245"/>
              </a:gs>
            </a:gsLst>
            <a:lin ang="108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>
            <p:ph type="title"/>
          </p:nvPr>
        </p:nvSpPr>
        <p:spPr>
          <a:xfrm>
            <a:off x="515937" y="634119"/>
            <a:ext cx="64900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515937" y="1480284"/>
            <a:ext cx="6490080" cy="4602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2pPr>
            <a:lvl3pPr indent="-3683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3pPr>
            <a:lvl4pPr indent="-3683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4pPr>
            <a:lvl5pPr indent="-3683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2" type="subTitle"/>
          </p:nvPr>
        </p:nvSpPr>
        <p:spPr>
          <a:xfrm>
            <a:off x="515937" y="372658"/>
            <a:ext cx="6490080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lt2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_2 Line Title">
  <p:cSld name="Case Study_2 Line Titl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2245">
                  <a:alpha val="0"/>
                </a:srgbClr>
              </a:gs>
              <a:gs pos="31000">
                <a:srgbClr val="012245">
                  <a:alpha val="0"/>
                </a:srgbClr>
              </a:gs>
              <a:gs pos="79000">
                <a:srgbClr val="012245"/>
              </a:gs>
              <a:gs pos="100000">
                <a:srgbClr val="012245"/>
              </a:gs>
            </a:gsLst>
            <a:lin ang="108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145" y="6345130"/>
            <a:ext cx="12237561" cy="52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6017" y="6518662"/>
            <a:ext cx="2352823" cy="17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515937" y="372658"/>
            <a:ext cx="6490080" cy="42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lt2"/>
                </a:solidFill>
              </a:defRPr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655" y="177225"/>
            <a:ext cx="1389305" cy="32096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>
            <p:ph type="title"/>
          </p:nvPr>
        </p:nvSpPr>
        <p:spPr>
          <a:xfrm>
            <a:off x="515937" y="686115"/>
            <a:ext cx="6490080" cy="1008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2" type="body"/>
          </p:nvPr>
        </p:nvSpPr>
        <p:spPr>
          <a:xfrm>
            <a:off x="515937" y="1956546"/>
            <a:ext cx="6490080" cy="41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" type="body"/>
          </p:nvPr>
        </p:nvSpPr>
        <p:spPr>
          <a:xfrm>
            <a:off x="515937" y="1074738"/>
            <a:ext cx="11160124" cy="50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type="title"/>
          </p:nvPr>
        </p:nvSpPr>
        <p:spPr>
          <a:xfrm>
            <a:off x="515937" y="372729"/>
            <a:ext cx="1051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515937" y="1074738"/>
            <a:ext cx="11160124" cy="50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E72E3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515937" y="372729"/>
            <a:ext cx="1051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E1FE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93E1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728216"/>
            <a:ext cx="5943600" cy="1572768"/>
          </a:xfrm>
        </p:spPr>
        <p:txBody>
          <a:bodyPr/>
          <a:lstStyle/>
          <a:p>
            <a:pPr>
              <a:defRPr sz="3600" b="1">
                <a:solidFill>
                  <a:srgbClr val="0A3D75"/>
                </a:solidFill>
                <a:latin typeface="Microsoft JhengHei"/>
              </a:defRPr>
            </a:pPr>
            <a:r>
              <a:t>[簡報主標題]</a:t>
            </a:r>
          </a:p>
          <a:p>
            <a:pPr>
              <a:defRPr sz="3600" b="1">
                <a:solidFill>
                  <a:srgbClr val="0A3D75"/>
                </a:solidFill>
                <a:latin typeface="Microsoft JhengHei"/>
              </a:defRPr>
            </a:pPr>
            <a:r>
              <a:t>[簡報副標題 / 專案名稱]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9992" y="5696712"/>
            <a:ext cx="2843784" cy="585216"/>
          </a:xfrm>
        </p:spPr>
        <p:txBody>
          <a:bodyPr/>
          <a:lstStyle/>
          <a:p>
            <a:pPr>
              <a:defRPr sz="2000" b="1">
                <a:solidFill>
                  <a:srgbClr val="0A3D75"/>
                </a:solidFill>
                <a:latin typeface="Microsoft JhengHei"/>
              </a:defRPr>
            </a:pPr>
            <a:r>
              <a:t>Defined by 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858000" cy="640080"/>
          </a:xfrm>
        </p:spPr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簡報大綱與核心架構（Agenda &amp; Framework）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846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Microsoft JhengHei"/>
              </a:defRPr>
            </a:pPr>
            <a:r>
              <a:t>01  專案背景與目標 (Background &amp; Objectives)</a:t>
            </a:r>
          </a:p>
          <a:p>
            <a:pPr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t>• 請輸入本章節核心摘要與預期效益說明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03704"/>
            <a:ext cx="4846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9514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Microsoft JhengHei"/>
              </a:defRPr>
            </a:pPr>
            <a:r>
              <a:t>02  硬體架構評估 (Hardware Architecture Review)</a:t>
            </a:r>
          </a:p>
          <a:p>
            <a:pPr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t>• 請輸入本章節核心摘要與預期效益說明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72968"/>
            <a:ext cx="4846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64408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Microsoft JhengHei"/>
              </a:defRPr>
            </a:pPr>
            <a:r>
              <a:t>03  技術方案權衡 (Technical Trade-off Analysis)</a:t>
            </a:r>
          </a:p>
          <a:p>
            <a:pPr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t>• 請輸入本章節核心摘要與預期效益說明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42232"/>
            <a:ext cx="4846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33672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Microsoft JhengHei"/>
              </a:defRPr>
            </a:pPr>
            <a:r>
              <a:t>04  專案時程與里程碑 (Schedule &amp; Key Milestones)</a:t>
            </a:r>
          </a:p>
          <a:p>
            <a:pPr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t>• 請輸入本章節核心摘要與預期效益說明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11496"/>
            <a:ext cx="4846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02936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Microsoft JhengHei"/>
              </a:defRPr>
            </a:pPr>
            <a:r>
              <a:t>05  結論與行動方針 (Conclusion &amp; Next Steps)</a:t>
            </a:r>
          </a:p>
          <a:p>
            <a:pPr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t>• 請輸入本章節核心摘要與預期效益說明</a:t>
            </a:r>
          </a:p>
        </p:txBody>
      </p:sp>
      <p:sp>
        <p:nvSpPr>
          <p:cNvPr id="1002" name="Slide Number Placeholder 2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2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2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A3D75"/>
                </a:solidFill>
                <a:latin typeface="Microsoft JhengHei"/>
              </a:defRPr>
            </a:pPr>
            <a:r>
              <a:t>01 / [章節主標題]</a:t>
            </a:r>
          </a:p>
          <a:p>
            <a:pPr>
              <a:defRPr sz="3200" b="1">
                <a:solidFill>
                  <a:srgbClr val="0A3D75"/>
                </a:solidFill>
                <a:latin typeface="Microsoft JhengHei"/>
              </a:defRPr>
            </a:pPr>
            <a:r>
              <a:t>[Chapter English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475569"/>
                </a:solidFill>
                <a:latin typeface="Microsoft JhengHei"/>
              </a:defRPr>
            </a:pPr>
            <a:r>
              <a:t>[此處輸入章節核心範圍、關鍵議題或技術摘要]</a:t>
            </a:r>
          </a:p>
        </p:txBody>
      </p:sp>
      <p:sp>
        <p:nvSpPr>
          <p:cNvPr id="1003" name="Slide Number Placeholder 3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3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3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[單欄卡片頁面主標題]（Executive Summary）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881360" cy="1463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2CE"/>
                </a:solidFill>
                <a:latin typeface="Microsoft JhengHei"/>
              </a:defRPr>
            </a:pPr>
            <a:r>
              <a:t>【核心結論（Executive Takeaway）】</a:t>
            </a:r>
          </a:p>
          <a:p>
            <a:pPr>
              <a:defRPr sz="1200">
                <a:solidFill>
                  <a:srgbClr val="0A2540"/>
                </a:solidFill>
                <a:latin typeface="Microsoft JhengHei"/>
              </a:defRPr>
            </a:pPr>
            <a:r>
              <a:t>請在此填入 1~2 句關鍵決策核心結論，直接點出最佳方案、具體效益與量化成果。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108813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Microsoft JhengHei"/>
              </a:defRPr>
            </a:pPr>
            <a:r>
              <a:t>關鍵架構分析重點（Key Architectural Pillars）</a:t>
            </a:r>
          </a:p>
          <a:p>
            <a:pPr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• 核心重點一（Pillar 1）：請在此輸入重點項目一的技術背景、設計考量與分析說明。</a:t>
            </a:r>
          </a:p>
          <a:p>
            <a:pPr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• 核心重點二（Pillar 2）：請在此輸入重點項目二的技術背景、設計考量與分析說明。</a:t>
            </a:r>
          </a:p>
          <a:p>
            <a:pPr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• 核心重點三（Pillar 3）：請在此輸入重點項目三的技術背景、設計考量與分析說明。</a:t>
            </a:r>
          </a:p>
          <a:p>
            <a:pPr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• 核心重點四（Pillar 4）：請在此輸入重點項目四的技術背景、設計考量與分析說明。</a:t>
            </a:r>
          </a:p>
        </p:txBody>
      </p:sp>
      <p:sp>
        <p:nvSpPr>
          <p:cNvPr id="1004" name="Slide Number Placeholder 4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4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4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技術方案比較與權衡決策（Technical Trade-off）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Microsoft JhengHei"/>
              </a:defRPr>
            </a:pPr>
            <a:r>
              <a:t>方案 A：[方案名稱 A]（Option A）</a:t>
            </a:r>
          </a:p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[方案 A 核心特徵與定位簡述]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【優點（Pros）】請輸入方案 A 的主要優勢與效益。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【缺點（Cons）】請輸入方案 A 的潛在限制或缺點。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【BOM 成本】請評估方案 A 對物料清單成本之衝擊。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【設計規範】請說明方案 A 對 PCB Layout / 電氣規範之要求。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【建議評估】請給予方案 A 之適用情境與決策建議。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2CE"/>
                </a:solidFill>
                <a:latin typeface="Microsoft JhengHei"/>
              </a:defRPr>
            </a:pPr>
            <a:r>
              <a:t>方案 B：[方案名稱 B - 建議方案]（Option B）</a:t>
            </a:r>
          </a:p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[方案 B 核心特徵與定位簡述]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【優點（Pros）】請輸入方案 B 的主要優勢與效益。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【缺點（Cons）】請輸入方案 B 的潛在限制或缺點。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【BOM 成本】請評估方案 B 對物料清單成本之衝擊。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【設計規範】請說明方案 B 對 PCB Layout / 電氣規範之要求。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【建議評估】【推薦】作為標準旗艦機種與主力推廣方案。</a:t>
            </a:r>
          </a:p>
        </p:txBody>
      </p:sp>
      <p:sp>
        <p:nvSpPr>
          <p:cNvPr id="1005" name="Slide Number Placeholder 5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5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5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三大核心技術支柱分析（Core Technical Pillars）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107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0449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2CE"/>
                </a:solidFill>
                <a:latin typeface="Microsoft JhengHei"/>
              </a:defRPr>
            </a:pPr>
            <a:r>
              <a:t>模組 / 支柱一</a:t>
            </a:r>
          </a:p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Pillar 1 English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A】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B】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C】</a:t>
            </a:r>
            <a:br/>
            <a:r>
              <a:t>  請在此輸入技術細節、規範要求與驗證標準說明。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188720"/>
            <a:ext cx="34107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371600"/>
            <a:ext cx="30449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  <a:latin typeface="Microsoft JhengHei"/>
              </a:defRPr>
            </a:pPr>
            <a:r>
              <a:t>模組 / 支柱二</a:t>
            </a:r>
          </a:p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Pillar 2 English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A】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B】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C】</a:t>
            </a:r>
            <a:br/>
            <a:r>
              <a:t>  請在此輸入技術細節、規範要求與驗證標準說明。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188720"/>
            <a:ext cx="34107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371600"/>
            <a:ext cx="30449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Microsoft JhengHei"/>
              </a:defRPr>
            </a:pPr>
            <a:r>
              <a:t>模組 / 支柱三</a:t>
            </a:r>
          </a:p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Pillar 3 English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A】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B】</a:t>
            </a:r>
            <a:br/>
            <a:r>
              <a:t>  請在此輸入技術細節、規範要求與驗證標準說明。</a:t>
            </a:r>
          </a:p>
          <a:p>
            <a:br/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• 【技術要點 C】</a:t>
            </a:r>
            <a:br/>
            <a:r>
              <a:t>  請在此輸入技術細節、規範要求與驗證標準說明。</a:t>
            </a:r>
          </a:p>
        </p:txBody>
      </p:sp>
      <p:sp>
        <p:nvSpPr>
          <p:cNvPr id="1006" name="Slide Number Placeholder 6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6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6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架構風險矩陣與因應策略（Risk Matrix &amp; Mitigation）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2377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【高衝擊 / 高機率】關鍵技術風險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風險點：請輸入高衝擊高機率風險描述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因應對策：</a:t>
            </a:r>
            <a:br/>
            <a:r>
              <a:t>• 請輸入對策項目一</a:t>
            </a:r>
            <a:br/>
            <a:r>
              <a:t>• 請輸入對策項目二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377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【高衝擊 / 低機率】平台相容風險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風險點：請輸入高衝擊低機率風險描述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因應對策：</a:t>
            </a:r>
            <a:br/>
            <a:r>
              <a:t>• 請輸入對策項目一</a:t>
            </a:r>
            <a:br/>
            <a:r>
              <a:t>• 請輸入對策項目二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5303520" cy="2377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【低衝擊 / 高機率】機構公差風險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風險點：請輸入低衝擊高機率風險描述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因應對策：</a:t>
            </a:r>
            <a:br/>
            <a:r>
              <a:t>• 請輸入對策項目一</a:t>
            </a:r>
            <a:br/>
            <a:r>
              <a:t>• 請輸入對策項目二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3035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【低衝擊 / 低機率】常規物料交期</a:t>
            </a:r>
          </a:p>
          <a:p>
            <a:pPr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風險點：請輸入低衝擊低機率風險描述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因應對策：</a:t>
            </a:r>
            <a:br/>
            <a:r>
              <a:t>• 請輸入對策項目一</a:t>
            </a:r>
            <a:br/>
            <a:r>
              <a:t>• 請輸入對策項目二</a:t>
            </a:r>
          </a:p>
        </p:txBody>
      </p:sp>
      <p:sp>
        <p:nvSpPr>
          <p:cNvPr id="1007" name="Slide Number Placeholder 7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7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7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Microsoft JhengHei"/>
              </a:defRPr>
            </a:pPr>
            <a:r>
              <a:t>專案時程與推進里程碑（Schedule &amp; Milestones）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2CE"/>
                </a:solidFill>
                <a:latin typeface="Microsoft JhengHei"/>
              </a:defRPr>
            </a:pPr>
            <a:r>
              <a:t>Phase 1：Q1 2026</a:t>
            </a:r>
          </a:p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架構評估與規格凍結</a:t>
            </a:r>
          </a:p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Architecture &amp; Spec Freeze</a:t>
            </a:r>
          </a:p>
          <a:p/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平台架構可行性評估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主要晶片與周邊選型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System Block Diagram 凍結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118872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7016" y="137160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2CE"/>
                </a:solidFill>
                <a:latin typeface="Microsoft JhengHei"/>
              </a:defRPr>
            </a:pPr>
            <a:r>
              <a:t>Phase 2：Q2 2026</a:t>
            </a:r>
          </a:p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電路設計與 PCB 佈線</a:t>
            </a:r>
          </a:p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Schematic &amp; PCB Layout</a:t>
            </a:r>
          </a:p>
          <a:p/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原理圖設計與同仁審查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SI / PI 模擬與疊構確認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Gerber 輸出與發板打樣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18872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37160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5100"/>
                </a:solidFill>
                <a:latin typeface="Microsoft JhengHei"/>
              </a:defRPr>
            </a:pPr>
            <a:r>
              <a:t>Phase 3：Q3 2026</a:t>
            </a:r>
          </a:p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工程樣品與驗證測試</a:t>
            </a:r>
          </a:p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EVT / DVT Validation</a:t>
            </a:r>
          </a:p>
          <a:p/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Power-on 與開機時序量測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高低溫環境極限測試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相容性與認證（CE/FCC）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18872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8" y="137160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Phase 4：Q4 2026</a:t>
            </a:r>
          </a:p>
          <a:p>
            <a:pPr>
              <a:defRPr sz="1200" b="1">
                <a:solidFill>
                  <a:srgbClr val="0A2540"/>
                </a:solidFill>
                <a:latin typeface="Microsoft JhengHei"/>
              </a:defRPr>
            </a:pPr>
            <a:r>
              <a:t>試產導入與量產發布</a:t>
            </a:r>
          </a:p>
          <a:p>
            <a:pPr>
              <a:defRPr sz="900">
                <a:solidFill>
                  <a:srgbClr val="94A3B8"/>
                </a:solidFill>
                <a:latin typeface="Microsoft JhengHei"/>
              </a:defRPr>
            </a:pPr>
            <a:r>
              <a:t>PVT &amp; Mass Production</a:t>
            </a:r>
          </a:p>
          <a:p/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產線治具與測試程式驗收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首批試產（Pilot Run）檢討</a:t>
            </a:r>
          </a:p>
          <a:p>
            <a:pPr>
              <a:defRPr sz="1000">
                <a:solidFill>
                  <a:srgbClr val="475569"/>
                </a:solidFill>
                <a:latin typeface="Microsoft JhengHei"/>
              </a:defRPr>
            </a:pPr>
            <a:r>
              <a:t>• 官方產品發表與供貨啟動</a:t>
            </a:r>
          </a:p>
        </p:txBody>
      </p:sp>
      <p:sp>
        <p:nvSpPr>
          <p:cNvPr id="1008" name="Slide Number Placeholder 8"/>
          <p:cNvSpPr txBox="1"/>
          <p:nvPr>
            <p:ph idx="12" type="sldNum"/>
          </p:nvPr>
        </p:nvSpPr>
        <p:spPr>
          <a:xfrm>
            <a:off x="302597" y="6485271"/>
            <a:ext cx="2743200" cy="21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000000000008}" type="slidenum">
              <a:rPr lang="zh-TW" sz="1000">
                <a:solidFill>
                  <a:srgbClr val="94A3B8"/>
                </a:solidFill>
                <a:latin typeface="Arial"/>
                <a:ea typeface="Microsoft JhengHei"/>
              </a:rPr>
              <a:t>8</a:t>
            </a:fld>
            <a:endParaRPr lang="zh-TW" sz="1000">
              <a:solidFill>
                <a:srgbClr val="94A3B8"/>
              </a:solidFill>
              <a:latin typeface="Arial"/>
              <a:ea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Thank You</a:t>
            </a:r>
          </a:p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Q&amp;A 與討論交流</a:t>
            </a:r>
          </a:p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研揚科技 AAEON Technology Inc.  |  硬體研發處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ght Theme">
  <a:themeElements>
    <a:clrScheme name="AAEON Colorbase">
      <a:dk1>
        <a:srgbClr val="262626"/>
      </a:dk1>
      <a:lt1>
        <a:srgbClr val="FFFFFF"/>
      </a:lt1>
      <a:dk2>
        <a:srgbClr val="02224F"/>
      </a:dk2>
      <a:lt2>
        <a:srgbClr val="FFFFFF"/>
      </a:lt2>
      <a:accent1>
        <a:srgbClr val="0A3D75"/>
      </a:accent1>
      <a:accent2>
        <a:srgbClr val="D9D9D9"/>
      </a:accent2>
      <a:accent3>
        <a:srgbClr val="68C9E9"/>
      </a:accent3>
      <a:accent4>
        <a:srgbClr val="CEDBED"/>
      </a:accent4>
      <a:accent5>
        <a:srgbClr val="00B0F0"/>
      </a:accent5>
      <a:accent6>
        <a:srgbClr val="C0C0C0"/>
      </a:accent6>
      <a:hlink>
        <a:srgbClr val="00B0F0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Theme">
  <a:themeElements>
    <a:clrScheme name="AAEON Colorbase">
      <a:dk1>
        <a:srgbClr val="262626"/>
      </a:dk1>
      <a:lt1>
        <a:srgbClr val="FFFFFF"/>
      </a:lt1>
      <a:dk2>
        <a:srgbClr val="02224F"/>
      </a:dk2>
      <a:lt2>
        <a:srgbClr val="FFFFFF"/>
      </a:lt2>
      <a:accent1>
        <a:srgbClr val="0A3D75"/>
      </a:accent1>
      <a:accent2>
        <a:srgbClr val="D9D9D9"/>
      </a:accent2>
      <a:accent3>
        <a:srgbClr val="68C9E9"/>
      </a:accent3>
      <a:accent4>
        <a:srgbClr val="CEDBED"/>
      </a:accent4>
      <a:accent5>
        <a:srgbClr val="00B0F0"/>
      </a:accent5>
      <a:accent6>
        <a:srgbClr val="C0C0C0"/>
      </a:accent6>
      <a:hlink>
        <a:srgbClr val="00B0F0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2024-10-30T01:59:46Z</dcterms:created>
  <dc:creator>CAI-LIN YU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0x0101002FFBEEADD8E9E845A75FB4BB4A8867D7</vt:lpwstr>
  </property>
  <property fmtid="{D5CDD505-2E9C-101B-9397-08002B2CF9AE}" pid="3" name="MediaServiceImageTags">
    <vt:lpwstr/>
  </property>
</Properties>
</file>